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55680" y="0"/>
            <a:ext cx="1033271" cy="6858000"/>
          </a:xfrm>
          <a:prstGeom prst="rect">
            <a:avLst/>
          </a:prstGeom>
          <a:solidFill>
            <a:srgbClr val="06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7315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ZSSMS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8BDF8"/>
                </a:solidFill>
              </a:rPr>
              <a:t>Zambian School &amp; Student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E6FD"/>
                </a:solidFill>
              </a:rPr>
              <a:t>A comprehensive digital platform for Zambian schools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E6FD"/>
                </a:solidFill>
              </a:rPr>
              <a:t>from admission to alumni, finance to feeding.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DD3FC"/>
                </a:solidFill>
              </a:rPr>
              <a:t>Modules  ·  Architecture  ·  Role-Based Access  ·  Key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DD3FC"/>
                </a:solidFill>
              </a:rPr>
              <a:t>Built for Zambia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15+
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12
User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480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Multi-School
Capable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One platform. Every corner of school life.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0F172A"/>
                </a:solidFill>
              </a:rPr>
              <a:t>ZSSMS eliminates isolated spreadsheets and paper registers by providing a single, browser-based system where every stakeholder — from the headteacher to a parent — has a tailored, permission-controlled view of the information they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2795778" cy="713232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386584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Academic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7258" y="2240280"/>
            <a:ext cx="2795778" cy="71323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8698" y="2386584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6" y="2240280"/>
            <a:ext cx="2795778" cy="7132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2386584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Assessments &amp;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81694" y="2240280"/>
            <a:ext cx="2795778" cy="713232"/>
          </a:xfrm>
          <a:prstGeom prst="rect">
            <a:avLst/>
          </a:prstGeom>
          <a:solidFill>
            <a:srgbClr val="06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3134" y="2386584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Report Cards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44952"/>
            <a:ext cx="2795778" cy="713232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191256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ECZ Examination Mgmt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7258" y="3044952"/>
            <a:ext cx="2795778" cy="71323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8698" y="3191256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Finance &amp; Fees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3044952"/>
            <a:ext cx="2795778" cy="7132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5916" y="3191256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Staff &amp; HR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1694" y="3044952"/>
            <a:ext cx="2795778" cy="713232"/>
          </a:xfrm>
          <a:prstGeom prst="rect">
            <a:avLst/>
          </a:prstGeom>
          <a:solidFill>
            <a:srgbClr val="06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3134" y="3191256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Leave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49624"/>
            <a:ext cx="2795778" cy="713232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95928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Payroll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7258" y="3849624"/>
            <a:ext cx="2795778" cy="71323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8698" y="3995928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3849624"/>
            <a:ext cx="2795778" cy="7132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5916" y="3995928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Transport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81694" y="3849624"/>
            <a:ext cx="2795778" cy="713232"/>
          </a:xfrm>
          <a:prstGeom prst="rect">
            <a:avLst/>
          </a:prstGeom>
          <a:solidFill>
            <a:srgbClr val="06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3134" y="3995928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Feeding &amp; Nutrition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654296"/>
            <a:ext cx="2795778" cy="713232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00600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Boarding / Dormitories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7258" y="4654296"/>
            <a:ext cx="2795778" cy="71323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8698" y="4800600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Communication &amp; SMS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6" y="4654296"/>
            <a:ext cx="2795778" cy="7132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5916" y="4800600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Parent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81694" y="4654296"/>
            <a:ext cx="2795778" cy="713232"/>
          </a:xfrm>
          <a:prstGeom prst="rect">
            <a:avLst/>
          </a:prstGeom>
          <a:solidFill>
            <a:srgbClr val="06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3134" y="4800600"/>
            <a:ext cx="261289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System Administration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Built on modern, battle-tested open-source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2859786" cy="52120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2859786" cy="3291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307592"/>
            <a:ext cx="26403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45919"/>
            <a:ext cx="264033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Vue 3 — Composition API + TypeScript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Inertia.js — SPA feel without a separate API layer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Tailwind CSS — utility-first responsive styling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Vite — lightning-fast HMR &amp; bundling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Ziggy — named Laravel routes in 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1538" y="1261872"/>
            <a:ext cx="2859786" cy="52120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1538" y="1261872"/>
            <a:ext cx="2859786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1266" y="1307592"/>
            <a:ext cx="26403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1266" y="1645919"/>
            <a:ext cx="264033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Laravel 13 — PHP 8.3 framework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Spatie Laravel Permission v8 — RBAC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Spatie Laravel Data — typed DTOs + validation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Spatie Media Library — file/image uploads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Laravel Jetstream + Fortify — authentication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1261872"/>
            <a:ext cx="2859786" cy="52120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6" y="1261872"/>
            <a:ext cx="2859786" cy="32918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4204" y="1307592"/>
            <a:ext cx="26403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4204" y="1645919"/>
            <a:ext cx="264033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SQLite (development) / MySQL (production)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Eloquent ORM — relationships, accessors, scopes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Migrations &amp; seeders for all tables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Full-text search via Eloquent whereHas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Paginated results with query string binding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7414" y="1261872"/>
            <a:ext cx="2859786" cy="521208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7414" y="1261872"/>
            <a:ext cx="2859786" cy="329184"/>
          </a:xfrm>
          <a:prstGeom prst="rect">
            <a:avLst/>
          </a:prstGeom>
          <a:solidFill>
            <a:srgbClr val="065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7142" y="1307592"/>
            <a:ext cx="26403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Security &amp; Multi-Tenancy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7142" y="1645919"/>
            <a:ext cx="264033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Gate::before() — super-admin blanket bypass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School-context middleware on every request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Role &amp; permission middleware on routes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Audit log — all destructive actions recorded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Scoped queries — school_id on every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1 — Academic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Pupils · Guardians · Classes · Streams · Subjects · Timetable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Pupil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Admit new pupils with full biographical 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Automatic admission number generation (e.g. LDSS/0001/2026)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Track status: active, transferred, graduated, expelled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Link guardians at admission (primary, emergency, can-pickup flags)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Edit pupil details including grade/stream reassignment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Bulk promotion — move a whole stream up a grade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Transfer pupils between schools with transfer date log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Profile page: personal details, guardians, transfers, fees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Classes, Streams &amp; Subjects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grades (Grade 1–12) with grade_number for ordering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Streams per grade (e.g. Grade 8A, 8B) with capacity &amp; class teacher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Assign subjects to grades via grade_subjects pivot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Timetable slots: day + period + subject + stream + teacher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Guardian / parent directory with portal status badge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Search pupils by name, admission number, grade, sex, status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Export selected pupils to CSV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Stats bar: total, male, female, active 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2 —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Daily class register with session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Session &amp;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Open an attendance session for a stream on a given date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Session types: morning, afternoon, full-day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Auto-backfill: if session opened before pupils assigned,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absent records are inserted for all current active pupils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Toggle individual status: present / absent / late / excused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Select-all and bulk-mark controls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Finalize session to lock further edits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View any past session with read-only register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Reporting &amp;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Filter sessions by stream and date range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Per-pupil attendance summary (days present vs. absent)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Parent portal: child's attendance history visible to guardian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Dashboard stat: today's attendance sessions open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Role access: class teachers record; admins view all streams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Admission number displayed alongside name in register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Linked pupil names navigate to pupil profile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Stream select shows 'Grade X — Stream Y' for easy identification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3 — Assessments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Continuous assessment · Term scores · Grade publishing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Assessments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assessments: title, date, max marks, subject, stream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Score entry form — mark each pupil out of max marks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Remarks per pupil (optional)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Pending assessments counted on dashboard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Assessment list filtered by stream &amp; subject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View assessment with class average &amp; score breakdown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Assessment-level permission: subject teachers enter own scores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Audit: created_by tracked per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Term Results &amp; Publishing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Enter term results per pupil per subject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Bulk entry form for whole stream at once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Grade letters auto-calculated from mark thresholds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Stream results grid: pupils as rows, subjects as columns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Sticky first column — pupil name always visible when scrolling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Publish results — makes grades visible in parent portal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Role check: only headteacher / school-admin can publish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Results export prepared for report card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4 — Report Cards &amp; ECZ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Generate, review and publish termly report cards · ECZ exam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Report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Generate report cards per stream + term in one click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Card includes: all subject scores, grades, teacher comments,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headteacher comment, attendance summary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Draft → Published workflow (parents see only published cards)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Publish All button — publishes every card for stream+term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Individual card view with print-ready layout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Parent portal: child's report cards accessible per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permission: report-card.publish required (Gate bypass for super-admin)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ECZ (Examinations Council of Zambia)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Register Grade 9 / Grade 12 candidates for national exams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Assign index numbers to registered candidates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Enter actual ECZ examination results per subject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Grade 12 / Grade 9 stream filtering on candidates list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Candidate profile: personal info + all subject entries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Results entry protected by ecz.enter-results permission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ECZ results separate from internal term results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Bulk candidate registration for entire stream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5 —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Fee Structures · Bulk Invoicing · Payments · Expenses ·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Fee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fee items per grade, term and academic year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Mark fees as mandatory or optional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applies_to field for boarding, transport add-ons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Amount stored as decimal:2 (ZMW)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Fee structures reusable across bulk invoicing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Linked to academic year for historical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9183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9183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8912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Invoices &amp; Payments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8912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Bulk Invoice: raise invoices for entire school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or specific grade in one action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Duplicate detection — existing invoices skipped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Optional due date on bulk raise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Individual invoice: raise with discount field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Record payments: cash, Airtel Money, MTN MoMo,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bank transfer, cheque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Invoice status: unpaid → partial → paid / waived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Payment history with receiver name +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9767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9767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9495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Expenses &amp;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9495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Record school expenses by category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Receipt upload via Spatie Media Library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Budget vs Actual report per category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Fee collection report: total invoiced, collected,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outstanding, collection rate %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Breakdown by grade for school-wide analysis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Waive invoice with reason — status set to 'waived'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Parent portal: child's fee statement per term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6 — Staff &amp;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Staff Directory · Leave Management · Payroll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Staff Directory &amp;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staff records: personal info, employment type,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department, qualification, join date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Photo upload via media library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Staff profile page: bio + employment + leave history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Assign staff as class teachers to streams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Subject teachers linked to grade subjects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Role assignment: one staff → one or many roles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Staff list searchable with department/role filters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Leave &amp; Payroll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Leave types: Annual (21d), Sick (14d), Maternity (84d),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Paternity (5d), Compassionate (3d), Study (10d), Unpaid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Apply for leave: type, start date, end date, reason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Approval workflow: pending → approved / rejected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Leave balance tracked per staff per academic year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Payroll generation per term: base salary + allowances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Payroll approval before disbursement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Payslip view per staff member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7 —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Book catalogue · Borrowing · Returns · Overdue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Book Catalogue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Add books: title, author, ISBN, publisher, year, genre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Track total copies vs. available copies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Book cover upload via media library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Search books by title, author, ISBN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Book detail page with full borrowing history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Stock count updated automatically on borrow / return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Librarian role: full library management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Borrowing &amp;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Issue a book to a pupil or staff member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Due date set at borrowing (configurable days)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Active borrowings list with overdue detection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Return form: select borrowing, set return date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Fine calculation: ZMW 0.50 per overdue day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Optional fine amount recorded on return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Overdue report — all unreturned past-due borrowings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Borrower type: 'pupil' or 'staff' on each record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8 —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Routes · Pupil Assignments · Daily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Route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routes with name, origin, destination, fare (ZMW)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Assign a driver and vehicle per route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Route list with pupil count per route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Route detail: all assigned pupils for current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Filter manifest by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Pupils on route linked back to their profiles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Transport coordinator role: dedicated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Pupil Assignment &amp;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Assign pupils to a route for a specific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Bulk assign: search and select pupil then assign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Remove assignment (vacate) when no longer needed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Manifest printable view for drivers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Pupil admission number shown on manifest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Transport add-on fee linkable to fee structures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Prevents double-assignment to two routes in same term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9 — Feeding &amp;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Daily register · Stock management · Feeding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Daily Feeding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Open a session: date + meal type (breakfast/lunch/snack)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Session scoped to a specific stream or whole school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Stream selector shows 'Grade X — Stream Y' label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Check off served pupils individually or select all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Save in-progress and finalize when complete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Finalized sessions locked from further changes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Served count displayed per session in list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Session list colour-coded by meal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Stock &amp;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Stock items: name, unit (kg, litres, pieces, packets)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Record stock additions and usage movements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Current balance calculated from movement history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Movement log: type (in/out), quantity, date, notes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Feeding report: select term → total meals served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Daily bar chart showing meals served per day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Feeding coordinator role with dedicated permissions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Whole-school vs. stream-level session flexibility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10 — Boarding / Dormitories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Dormitory setup · Bed allocation · Boarding roster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Dormitory &amp; Bed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dormitories: name, gender (male/female/mixed), capacity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Add beds per dormitory with bed number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Bed status: available / occupied / maintenance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Visual bed grid — colour-coded by status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Click a bed to view occupant or allocate a new pupil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Bed detail shows: pupil name (linked to profile),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admission number, allocation date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Boarding master role with dedicated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Allocation &amp; Roster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Allocate pupil to bed for a specific term + fee amount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Vacate bed: clears allocation, bed returns to available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Boarding roster: printable list of all allocated pupils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Roster filterable by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Pupil names in roster link to their profile page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Boarding add-on fee linkable to fee structures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Prevent double-allocation in same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Dormitory list shows occupancy count vs. capacity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11 —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Notices · SMS · Internal Messaging · Parent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Notices / Bulletin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Create school notices with title, body, date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Publish notices to make visible to all users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Notices list with published/draft status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Permission: notice.create, notice.publish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Visible on parent portal dashboard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Pin important notices to top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Rich text content support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Archive old notices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9183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9183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8912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SMS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8912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Compose SMS messages to individual or groups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Target by role: parents, teachers, all staff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SMS delivery tracked per recipient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sms.send permission gate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Integrates with Zambian mobile networks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Bulk SMS for fee reminders, events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Send parent notifications on key events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SMS log with timestamp and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9767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9767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9495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Internal Messaging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9495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Staff-to-staff internal messages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Message inbox per user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Mark as read / unread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Reply threading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Messages filtered to current school context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Notification count badge in header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Parent-to-school message channel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Message history per conversation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 12 — Parent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Self-service portal giving guardians real-time school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Portal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Guardian registers → school creates portal account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Single login per guardian for all linked children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Child selector on portal dashboard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View child's attendance history by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Access published term results and grade letters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View report cards once published by school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Fee statement: invoices, amounts, payment history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Notifications: school notices + direct SMS/messages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Portal Access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School admin creates portal account for guardian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Portal account linked to guardian record (portalAccess)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Guardian phone used as account identifier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Parent role: restricted read-only permission set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Cannot access staff, finance admin, or other pupils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Guardians/Index shows portal status badge: Active / None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Portal can be revoked by school admin at any time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Separate login URL from staff/admin portal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12 roles · 50+ granular permissions · Spatie Laravel Permission v8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11521440" cy="347472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075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075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Scope of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27632"/>
            <a:ext cx="11521440" cy="3474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8249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682496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Full access — Gate::before() bypass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84248"/>
            <a:ext cx="115214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School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39112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All school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40864"/>
            <a:ext cx="11521440" cy="3474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Headteacher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395728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Academic + HR + limited finance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97480"/>
            <a:ext cx="115214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523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Deputy Headteacher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52344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Academic + limited HR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54096"/>
            <a:ext cx="11521440" cy="3474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08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Class Teacher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108960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Attendance, assessments, report cards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10712"/>
            <a:ext cx="115214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655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Subject Teacher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465576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Subject scores, assessments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67328"/>
            <a:ext cx="11521440" cy="3474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221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Finance Officer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822191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Fees, invoices, expenses, payroll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23944"/>
            <a:ext cx="115214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7880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Librarian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178807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Library catalogue, borrow &amp; return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480560"/>
            <a:ext cx="11521440" cy="3474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354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Boarding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535424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Dormitories, bed allocation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37176"/>
            <a:ext cx="115214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92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Transport 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892040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Routes, pupil assignment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193792"/>
            <a:ext cx="11521440" cy="34747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2486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Feeding Coordinator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5248656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Feeding sessions, stock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50408"/>
            <a:ext cx="11521440" cy="34747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6052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4A6E"/>
                </a:solidFill>
              </a:rPr>
              <a:t>Parent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5605272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Read-only: results, fees, attendance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Multi-School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One installation — unlimited schools, fully isolated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Every database table carries a school_id foreign key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SetSchoolContext middleware resolves current school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from the authenticated user's staff record on every request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All queries are automatically scoped to school_id —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no school can ever see another school's 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Super admin can switch between schools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Schools are created via admin panel + onboarding form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Each school has: name, code, address, logo, contact info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Academic years, terms, grades are per-school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61872"/>
            <a:ext cx="5669280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261872"/>
            <a:ext cx="5669280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07592"/>
            <a:ext cx="5449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Admin &amp;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19"/>
            <a:ext cx="544982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Public application form at /apply (school applies to join)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Admin reviews applications at /admin/applications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Approve application → creates school record + first admin user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School-level settings: grading scale, SMS provider, etc.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Roles &amp; permissions seeded fresh for each school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Audit log per school — all destructive actions recorded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Super admin dashboard: all schools, total pupil counts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Schools list with status: active / suspended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Dashboard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Role-specific dashboards surfacing the metrics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School 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Total pupils enrolled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Active staff count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Today's attendance sessions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Assessments pending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Fee collection rate this term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Outstanding invoices count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Recent notices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Quick links to all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9183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9183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8912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Subject Teacher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8912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My streams at a glance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Assessments I've created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Pending score entries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Class average per assessment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Attendance I've recorded today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Quick-access to score entry forms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Recent class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9767" y="1261872"/>
            <a:ext cx="3864864" cy="51206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9767" y="1261872"/>
            <a:ext cx="3864864" cy="329184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9495" y="1307592"/>
            <a:ext cx="3645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Landing Page / 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9495" y="1645919"/>
            <a:ext cx="3645407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Public landing page with live stats: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— Total pupils across all schools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— Total schools on platform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  — Total staff registered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Split-screen login + marketing layout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About page with feature highlights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Mobile-responsive design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0F172A"/>
                </a:solidFill>
              </a:rPr>
              <a:t>• School application call-to-action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Architecture choices that make ZSSMS reliable and maintainable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80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Inertia.js (no REST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Eliminates a separate API layer. Server renders data via Inertia props — simpler auth, no CORS, no token management. Vue handles UI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380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Spatie Data DTOs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Every form submission flows through a typed DTO. Validation rules are declared once on the DTO class. Fields not declared are silently dropped.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24328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624328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679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school_id on every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299008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Multi-tenancy via column-level isolation — simpler than row-level security or separate schemas. SetSchoolContext middleware enforces it on every request.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24328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24328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679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Gate::before() for super-admin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99008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Bypasses all $this-&gt;authorize() checks for the super-admin role. Prevents permission-name mismatches from ever blocking admin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22776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22776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$appends on Eloquent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28853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Computed attributes (full_name, age, published) must be in $appends to serialize to Inertia JSON. Missing $appends is a common silent bug.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22776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22776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9776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whereDate() not where() for 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288536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SQLite stores datetimes as text. String comparison fails for date-only queries against datetime columns. whereDate() is always used for safety.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21224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221224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2760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Attendance backfill pattern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558698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If a session is opened before pupils are assigned to a stream, the first page load auto-inserts absent records so the register is never empty.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21224"/>
            <a:ext cx="5669280" cy="124358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221224"/>
            <a:ext cx="164592" cy="124358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52760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4A6E"/>
                </a:solidFill>
              </a:rPr>
              <a:t>Bulk operations with duplicate skip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586984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</a:rPr>
              <a:t>Bulk invoice raise / bulk attendance / bulk report card generation all check for existing records first and skip — idempotent operations are safe to re-run.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ZSSMS — Built for Zambia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</a:rPr>
              <a:t>A single platform replacing every paper register, spreadsheet,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8BDF8"/>
                </a:solidFill>
              </a:rPr>
              <a:t>and siloed system in a Zambian school.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BDF8"/>
                </a:solidFill>
              </a:rPr>
              <a:t>Planned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486400" cy="502920"/>
          </a:xfrm>
          <a:prstGeom prst="rect">
            <a:avLst/>
          </a:prstGeom>
          <a:solidFill>
            <a:srgbClr val="07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 Mobile app (React Native) for teacher attendance on the 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651760"/>
            <a:ext cx="5486400" cy="502920"/>
          </a:xfrm>
          <a:prstGeom prst="rect">
            <a:avLst/>
          </a:prstGeom>
          <a:solidFill>
            <a:srgbClr val="07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743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 SMS / WhatsApp gateway integration (Airtel, MTN Zambia)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18688"/>
            <a:ext cx="5486400" cy="502920"/>
          </a:xfrm>
          <a:prstGeom prst="rect">
            <a:avLst/>
          </a:prstGeom>
          <a:solidFill>
            <a:srgbClr val="07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 Bank payment reconciliation (direct API)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18688"/>
            <a:ext cx="5486400" cy="502920"/>
          </a:xfrm>
          <a:prstGeom prst="rect">
            <a:avLst/>
          </a:prstGeom>
          <a:solidFill>
            <a:srgbClr val="07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310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 Automated term report card email to guardians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85615"/>
            <a:ext cx="5486400" cy="502920"/>
          </a:xfrm>
          <a:prstGeom prst="rect">
            <a:avLst/>
          </a:prstGeom>
          <a:solidFill>
            <a:srgbClr val="07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 National analytics dashboard (Ministry of Education view)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85615"/>
            <a:ext cx="5486400" cy="502920"/>
          </a:xfrm>
          <a:prstGeom prst="rect">
            <a:avLst/>
          </a:prstGeom>
          <a:solidFill>
            <a:srgbClr val="07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7705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→  Offline-first Progressive Web App (PWA) for low-connectivity 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57784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172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8BDF8"/>
                </a:solidFill>
              </a:rPr>
              <a:t>lumastech@gmail.com  ·  ZSSMS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